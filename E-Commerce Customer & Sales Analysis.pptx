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3AB2F-C1AB-4308-A3C9-B458A133C07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5F431-FA14-4D86-887F-59E8A3ACC0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Customer Purchase &amp; Satisfaction Analysis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Objective: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Analyze customer spending behavior, membership patterns, purchasing activity, satisfaction levels, and city-wise performance to identify actionable business insights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The e-commerce business wants to understand:</a:t>
            </a:r>
          </a:p>
          <a:p>
            <a:r>
              <a:rPr lang="en-US" dirty="0" smtClean="0"/>
              <a:t>Which customer segments contribute the most to revenue?</a:t>
            </a:r>
          </a:p>
          <a:p>
            <a:r>
              <a:rPr lang="en-US" dirty="0" smtClean="0"/>
              <a:t>Which membership type has the highest customer spending?</a:t>
            </a:r>
          </a:p>
          <a:p>
            <a:r>
              <a:rPr lang="en-US" dirty="0" smtClean="0"/>
              <a:t>Which cities generate higher customer value?</a:t>
            </a:r>
          </a:p>
          <a:p>
            <a:r>
              <a:rPr lang="en-US" dirty="0" smtClean="0"/>
              <a:t>How does customer satisfaction relate to purchasing behavior?</a:t>
            </a:r>
          </a:p>
          <a:p>
            <a:r>
              <a:rPr lang="en-US" dirty="0" smtClean="0"/>
              <a:t>Which customers may be at risk of becoming inactive?</a:t>
            </a:r>
          </a:p>
          <a:p>
            <a:r>
              <a:rPr lang="en-US" dirty="0" smtClean="0"/>
              <a:t>Does discount usage appear to be associated with customer satisfaction?</a:t>
            </a:r>
          </a:p>
          <a:p>
            <a:r>
              <a:rPr lang="en-US" dirty="0" smtClean="0"/>
              <a:t>How can the business improve customer retention and engagement?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Goal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Use customer data to identify purchasing patterns and provide data-driven recommendations for improving </a:t>
            </a:r>
            <a:r>
              <a:rPr lang="en-US" b="1" dirty="0" smtClean="0"/>
              <a:t>customer retention, satisfaction, and revenue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057400"/>
            <a:ext cx="8991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Dataset Overview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350 customer records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11 columns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Customer IDs range from </a:t>
            </a:r>
            <a:r>
              <a:rPr lang="en-US" b="1" dirty="0" smtClean="0"/>
              <a:t>101 to 450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Data covers customer demographics, purchases, membership and satisfaction.</a:t>
            </a:r>
          </a:p>
          <a:p>
            <a:r>
              <a:rPr lang="en-US" b="1" dirty="0" smtClean="0"/>
              <a:t>Key Variables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Satisfaction Level contains </a:t>
            </a:r>
            <a:r>
              <a:rPr lang="en-US" b="1" dirty="0" smtClean="0"/>
              <a:t>2 missing values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Remaining fields are largely complete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Data contains categorical, numerical and </a:t>
            </a:r>
            <a:r>
              <a:rPr lang="en-US" dirty="0" err="1" smtClean="0"/>
              <a:t>boolean</a:t>
            </a:r>
            <a:r>
              <a:rPr lang="en-US" dirty="0" smtClean="0"/>
              <a:t> variables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Customer ID can be used as the unique customer identifier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685800"/>
            <a:ext cx="815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Dataset</a:t>
            </a:r>
            <a:endParaRPr lang="en-US" sz="4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Analysis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39624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/>
              <a:t>1. Data Collection</a:t>
            </a:r>
            <a:endParaRPr lang="en-US" sz="1800" dirty="0" smtClean="0"/>
          </a:p>
          <a:p>
            <a:r>
              <a:rPr lang="en-US" sz="1800" dirty="0" smtClean="0"/>
              <a:t>Imported the e-commerce customer dataset.</a:t>
            </a:r>
          </a:p>
          <a:p>
            <a:pPr>
              <a:buNone/>
            </a:pPr>
            <a:r>
              <a:rPr lang="en-US" sz="1800" b="1" dirty="0" smtClean="0"/>
              <a:t>2. Data Cleaning</a:t>
            </a:r>
            <a:endParaRPr lang="en-US" sz="1800" dirty="0" smtClean="0"/>
          </a:p>
          <a:p>
            <a:r>
              <a:rPr lang="en-US" sz="1800" dirty="0" smtClean="0"/>
              <a:t>Checked missing values</a:t>
            </a:r>
          </a:p>
          <a:p>
            <a:r>
              <a:rPr lang="en-US" sz="1800" dirty="0" smtClean="0"/>
              <a:t>Checked duplicate records</a:t>
            </a:r>
          </a:p>
          <a:p>
            <a:r>
              <a:rPr lang="en-US" sz="1800" dirty="0" smtClean="0"/>
              <a:t>Verified data types</a:t>
            </a:r>
          </a:p>
          <a:p>
            <a:r>
              <a:rPr lang="en-US" sz="1800" dirty="0" smtClean="0"/>
              <a:t>Handled missing satisfaction values</a:t>
            </a:r>
          </a:p>
          <a:p>
            <a:pPr>
              <a:buNone/>
            </a:pPr>
            <a:r>
              <a:rPr lang="en-US" sz="1800" b="1" dirty="0" smtClean="0"/>
              <a:t>3. Data Transformation</a:t>
            </a:r>
            <a:endParaRPr lang="en-US" sz="1800" dirty="0" smtClean="0"/>
          </a:p>
          <a:p>
            <a:r>
              <a:rPr lang="en-US" sz="1800" dirty="0" smtClean="0"/>
              <a:t>Created customer segments based on membership/spending behavior</a:t>
            </a:r>
          </a:p>
          <a:p>
            <a:r>
              <a:rPr lang="en-US" sz="1800" dirty="0" smtClean="0"/>
              <a:t>Categorized customers based on purchase activity</a:t>
            </a:r>
          </a:p>
          <a:p>
            <a:r>
              <a:rPr lang="en-US" sz="1800" dirty="0" smtClean="0"/>
              <a:t>Prepared data for visualization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4495800" y="1371600"/>
            <a:ext cx="4191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smtClean="0"/>
              <a:t>4. Exploratory Analysis</a:t>
            </a:r>
            <a:endParaRPr lang="en-US" dirty="0" smtClean="0"/>
          </a:p>
          <a:p>
            <a:r>
              <a:rPr lang="en-US" dirty="0" smtClean="0"/>
              <a:t>Analyzed spending patterns</a:t>
            </a:r>
          </a:p>
          <a:p>
            <a:r>
              <a:rPr lang="en-US" dirty="0" smtClean="0"/>
              <a:t>Compared membership types</a:t>
            </a:r>
          </a:p>
          <a:p>
            <a:r>
              <a:rPr lang="en-US" dirty="0" smtClean="0"/>
              <a:t>Analyzed city-wise performance</a:t>
            </a:r>
          </a:p>
          <a:p>
            <a:r>
              <a:rPr lang="en-US" dirty="0" smtClean="0"/>
              <a:t>Studied customer satisfaction</a:t>
            </a:r>
          </a:p>
          <a:p>
            <a:r>
              <a:rPr lang="en-US" dirty="0" smtClean="0"/>
              <a:t>Examined purchase </a:t>
            </a:r>
            <a:r>
              <a:rPr lang="en-US" dirty="0" err="1" smtClean="0"/>
              <a:t>recency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5. Visualization</a:t>
            </a:r>
            <a:endParaRPr lang="en-US" dirty="0" smtClean="0"/>
          </a:p>
          <a:p>
            <a:r>
              <a:rPr lang="en-US" dirty="0" smtClean="0"/>
              <a:t>Created KPI cards</a:t>
            </a:r>
          </a:p>
          <a:p>
            <a:r>
              <a:rPr lang="en-US" dirty="0" smtClean="0"/>
              <a:t>Bar charts</a:t>
            </a:r>
          </a:p>
          <a:p>
            <a:r>
              <a:rPr lang="en-US" dirty="0" smtClean="0"/>
              <a:t>Donut/pie charts</a:t>
            </a:r>
          </a:p>
          <a:p>
            <a:r>
              <a:rPr lang="en-US" dirty="0" smtClean="0"/>
              <a:t>Column charts</a:t>
            </a:r>
          </a:p>
          <a:p>
            <a:r>
              <a:rPr lang="en-US" dirty="0" smtClean="0"/>
              <a:t>Scatter plots</a:t>
            </a:r>
          </a:p>
          <a:p>
            <a:r>
              <a:rPr lang="en-US" dirty="0" smtClean="0"/>
              <a:t>Tables</a:t>
            </a:r>
          </a:p>
          <a:p>
            <a:pPr>
              <a:buNone/>
            </a:pPr>
            <a:r>
              <a:rPr lang="en-US" b="1" dirty="0" smtClean="0"/>
              <a:t>6. Dashboard</a:t>
            </a:r>
            <a:endParaRPr lang="en-US" dirty="0" smtClean="0"/>
          </a:p>
          <a:p>
            <a:r>
              <a:rPr lang="en-US" dirty="0" smtClean="0"/>
              <a:t>Combined important KPIs and insights into an interactive dashboard.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828800"/>
            <a:ext cx="3657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Key Metrics</a:t>
            </a:r>
          </a:p>
          <a:p>
            <a:r>
              <a:rPr lang="en-US" sz="2000" dirty="0" smtClean="0"/>
              <a:t>The dashboard focuses on: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Total Customers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Total Customer Spend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Average Customer Spend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Total Items Purchased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Average Rating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Average Days Since Last Purchase</a:t>
            </a:r>
          </a:p>
          <a:p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533400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Overall Customer Analysis</a:t>
            </a:r>
            <a:endParaRPr lang="en-US" sz="4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495800" y="1905000"/>
            <a:ext cx="3886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Analysis Areas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Customer demographics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Spending behavior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Purchase frequency/activity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Membership performance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Customer satisfaction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Geographic performance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Membership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Membership Types</a:t>
            </a:r>
          </a:p>
          <a:p>
            <a:r>
              <a:rPr lang="en-US" dirty="0" smtClean="0"/>
              <a:t>The dataset contains three membership levels:</a:t>
            </a:r>
          </a:p>
          <a:p>
            <a:r>
              <a:rPr lang="en-US" b="1" dirty="0" smtClean="0"/>
              <a:t>Gold</a:t>
            </a:r>
            <a:endParaRPr lang="en-US" dirty="0" smtClean="0"/>
          </a:p>
          <a:p>
            <a:r>
              <a:rPr lang="en-US" b="1" dirty="0" smtClean="0"/>
              <a:t>Silver</a:t>
            </a:r>
            <a:endParaRPr lang="en-US" dirty="0" smtClean="0"/>
          </a:p>
          <a:p>
            <a:r>
              <a:rPr lang="en-US" b="1" dirty="0" smtClean="0"/>
              <a:t>Bronze</a:t>
            </a:r>
            <a:endParaRPr lang="en-US" dirty="0" smtClean="0"/>
          </a:p>
          <a:p>
            <a:r>
              <a:rPr lang="en-US" b="1" dirty="0" smtClean="0"/>
              <a:t>Observations</a:t>
            </a:r>
          </a:p>
          <a:p>
            <a:r>
              <a:rPr lang="en-US" dirty="0" smtClean="0"/>
              <a:t>Gold members show substantially higher spending and purchasing activity.</a:t>
            </a:r>
          </a:p>
          <a:p>
            <a:r>
              <a:rPr lang="en-US" dirty="0" smtClean="0"/>
              <a:t>Gold customers generally purchase more items per customer.</a:t>
            </a:r>
          </a:p>
          <a:p>
            <a:r>
              <a:rPr lang="en-US" dirty="0" smtClean="0"/>
              <a:t>Gold membership is strongly associated with higher satisfaction and ratings in this dataset.</a:t>
            </a:r>
          </a:p>
          <a:p>
            <a:r>
              <a:rPr lang="en-US" dirty="0" smtClean="0"/>
              <a:t>Bronze customers show comparatively lower spending and lower ratings.</a:t>
            </a:r>
          </a:p>
          <a:p>
            <a:r>
              <a:rPr lang="en-US" dirty="0" smtClean="0"/>
              <a:t>Silver customers fall between Gold and Bronze in spending and purchasing behavior.</a:t>
            </a:r>
          </a:p>
          <a:p>
            <a:r>
              <a:rPr lang="en-US" b="1" dirty="0" smtClean="0"/>
              <a:t>Business Insight</a:t>
            </a:r>
          </a:p>
          <a:p>
            <a:r>
              <a:rPr lang="en-US" dirty="0" smtClean="0"/>
              <a:t>Membership level appears to be an important indicator of </a:t>
            </a:r>
            <a:r>
              <a:rPr lang="en-US" b="1" dirty="0" smtClean="0"/>
              <a:t>customer value and engagement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City-wise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b="1" dirty="0" smtClean="0"/>
              <a:t>Cities Covered</a:t>
            </a:r>
          </a:p>
          <a:p>
            <a:r>
              <a:rPr lang="en-US" sz="1600" dirty="0" smtClean="0"/>
              <a:t>New York</a:t>
            </a:r>
          </a:p>
          <a:p>
            <a:r>
              <a:rPr lang="en-US" sz="1600" dirty="0" smtClean="0"/>
              <a:t>Los Angeles</a:t>
            </a:r>
          </a:p>
          <a:p>
            <a:r>
              <a:rPr lang="en-US" sz="1600" dirty="0" smtClean="0"/>
              <a:t>Chicago</a:t>
            </a:r>
          </a:p>
          <a:p>
            <a:r>
              <a:rPr lang="en-US" sz="1600" dirty="0" smtClean="0"/>
              <a:t>San Francisco</a:t>
            </a:r>
          </a:p>
          <a:p>
            <a:r>
              <a:rPr lang="en-US" sz="1600" dirty="0" smtClean="0"/>
              <a:t>Miami</a:t>
            </a:r>
          </a:p>
          <a:p>
            <a:r>
              <a:rPr lang="en-US" sz="1600" dirty="0" smtClean="0"/>
              <a:t>Houston</a:t>
            </a:r>
          </a:p>
          <a:p>
            <a:r>
              <a:rPr lang="en-US" sz="1600" b="1" dirty="0" smtClean="0"/>
              <a:t>Observations</a:t>
            </a:r>
          </a:p>
          <a:p>
            <a:r>
              <a:rPr lang="en-US" sz="1600" b="1" dirty="0" smtClean="0"/>
              <a:t>San Francisco</a:t>
            </a:r>
            <a:r>
              <a:rPr lang="en-US" sz="1600" dirty="0" smtClean="0"/>
              <a:t> customers show very high spending and purchasing activity.</a:t>
            </a:r>
          </a:p>
          <a:p>
            <a:r>
              <a:rPr lang="en-US" sz="1600" b="1" dirty="0" smtClean="0"/>
              <a:t>New York</a:t>
            </a:r>
            <a:r>
              <a:rPr lang="en-US" sz="1600" dirty="0" smtClean="0"/>
              <a:t> also shows strong customer spending and high satisfaction.</a:t>
            </a:r>
          </a:p>
          <a:p>
            <a:r>
              <a:rPr lang="en-US" sz="1600" dirty="0" smtClean="0"/>
              <a:t>Los Angeles represents a mid-level spending segment.</a:t>
            </a:r>
          </a:p>
          <a:p>
            <a:r>
              <a:rPr lang="en-US" sz="1600" dirty="0" smtClean="0"/>
              <a:t>Chicago and Houston show comparatively lower spending and ratings.</a:t>
            </a:r>
          </a:p>
          <a:p>
            <a:r>
              <a:rPr lang="en-US" sz="1600" dirty="0" smtClean="0"/>
              <a:t>Miami customers show moderate spending but relatively higher inactivity based on Days Since Last Purchase.</a:t>
            </a:r>
          </a:p>
          <a:p>
            <a:r>
              <a:rPr lang="en-US" sz="1600" b="1" dirty="0" smtClean="0"/>
              <a:t>Business Insight</a:t>
            </a:r>
          </a:p>
          <a:p>
            <a:r>
              <a:rPr lang="en-US" sz="1600" dirty="0" smtClean="0"/>
              <a:t>Customer value varies considerably by location, suggesting that marketing strategies can be </a:t>
            </a:r>
            <a:r>
              <a:rPr lang="en-US" sz="1600" b="1" dirty="0" smtClean="0"/>
              <a:t>localized by city</a:t>
            </a:r>
            <a:r>
              <a:rPr lang="en-US" sz="1600" dirty="0" smtClean="0"/>
              <a:t>.</a:t>
            </a:r>
          </a:p>
          <a:p>
            <a:pPr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Customer Satisfaction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 smtClean="0"/>
              <a:t> </a:t>
            </a:r>
          </a:p>
          <a:p>
            <a:pPr>
              <a:buNone/>
            </a:pPr>
            <a:r>
              <a:rPr lang="en-US" sz="1600" b="1" dirty="0" smtClean="0"/>
              <a:t>Satisfaction Levels</a:t>
            </a:r>
          </a:p>
          <a:p>
            <a:pPr>
              <a:buNone/>
            </a:pPr>
            <a:r>
              <a:rPr lang="en-US" sz="1600" dirty="0" smtClean="0"/>
              <a:t>Customers are categorized as:</a:t>
            </a:r>
          </a:p>
          <a:p>
            <a:r>
              <a:rPr lang="en-US" sz="1600" b="1" dirty="0" smtClean="0"/>
              <a:t>Satisfied</a:t>
            </a:r>
            <a:endParaRPr lang="en-US" sz="1600" dirty="0" smtClean="0"/>
          </a:p>
          <a:p>
            <a:r>
              <a:rPr lang="en-US" sz="1600" b="1" dirty="0" smtClean="0"/>
              <a:t>Neutral</a:t>
            </a:r>
            <a:endParaRPr lang="en-US" sz="1600" dirty="0" smtClean="0"/>
          </a:p>
          <a:p>
            <a:r>
              <a:rPr lang="en-US" sz="1600" b="1" dirty="0" smtClean="0"/>
              <a:t>Unsatisfied</a:t>
            </a:r>
            <a:endParaRPr lang="en-US" sz="1600" dirty="0" smtClean="0"/>
          </a:p>
          <a:p>
            <a:r>
              <a:rPr lang="en-US" sz="1600" b="1" dirty="0" smtClean="0"/>
              <a:t>Observations</a:t>
            </a:r>
          </a:p>
          <a:p>
            <a:r>
              <a:rPr lang="en-US" sz="1600" dirty="0" smtClean="0"/>
              <a:t>Satisfied customers generally have higher average ratings.</a:t>
            </a:r>
          </a:p>
          <a:p>
            <a:r>
              <a:rPr lang="en-US" sz="1600" dirty="0" smtClean="0"/>
              <a:t>Satisfied customers tend to show higher spending and greater purchase activity.</a:t>
            </a:r>
          </a:p>
          <a:p>
            <a:r>
              <a:rPr lang="en-US" sz="1600" dirty="0" smtClean="0"/>
              <a:t>Unsatisfied customers generally have lower ratings and lower spending.</a:t>
            </a:r>
          </a:p>
          <a:p>
            <a:r>
              <a:rPr lang="en-US" sz="1600" dirty="0" smtClean="0"/>
              <a:t>Customers with longer periods since their last purchase frequently appear in the unsatisfied group.</a:t>
            </a:r>
          </a:p>
          <a:p>
            <a:r>
              <a:rPr lang="en-US" sz="1600" dirty="0" smtClean="0"/>
              <a:t>Two records have missing Satisfaction Level values and should be handled during data cleaning.</a:t>
            </a:r>
          </a:p>
          <a:p>
            <a:r>
              <a:rPr lang="en-US" sz="1600" b="1" dirty="0" smtClean="0"/>
              <a:t>Business Insight</a:t>
            </a:r>
          </a:p>
          <a:p>
            <a:r>
              <a:rPr lang="en-US" sz="1600" dirty="0" smtClean="0"/>
              <a:t>Customer satisfaction is closely associated with </a:t>
            </a:r>
            <a:r>
              <a:rPr lang="en-US" sz="1600" b="1" dirty="0" smtClean="0"/>
              <a:t>engagement, rating and spending behavior</a:t>
            </a:r>
            <a:r>
              <a:rPr lang="en-US" sz="1600" dirty="0" smtClean="0"/>
              <a:t> in this dataset.</a:t>
            </a:r>
          </a:p>
          <a:p>
            <a:pPr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Customer Engagement / </a:t>
            </a:r>
            <a:r>
              <a:rPr lang="en-US" b="1" dirty="0" err="1" smtClean="0"/>
              <a:t>Recency</a:t>
            </a:r>
            <a:r>
              <a:rPr lang="en-US" b="1" dirty="0" smtClean="0"/>
              <a:t>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Days Since Last Purchase</a:t>
            </a:r>
          </a:p>
          <a:p>
            <a:r>
              <a:rPr lang="en-US" dirty="0" smtClean="0"/>
              <a:t>This metric helps identify customers who may be becoming inactive.</a:t>
            </a:r>
          </a:p>
          <a:p>
            <a:r>
              <a:rPr lang="en-US" b="1" dirty="0" smtClean="0"/>
              <a:t>Observations</a:t>
            </a:r>
          </a:p>
          <a:p>
            <a:r>
              <a:rPr lang="en-US" dirty="0" smtClean="0"/>
              <a:t>Customers with a low number of days since their last purchase appear more engaged.</a:t>
            </a:r>
          </a:p>
          <a:p>
            <a:r>
              <a:rPr lang="en-US" dirty="0" smtClean="0"/>
              <a:t>Customers with longer gaps between purchases are more likely to require re-engagement.</a:t>
            </a:r>
          </a:p>
          <a:p>
            <a:r>
              <a:rPr lang="en-US" dirty="0" smtClean="0"/>
              <a:t>Miami customers show particularly long purchase gaps in several records.</a:t>
            </a:r>
          </a:p>
          <a:p>
            <a:r>
              <a:rPr lang="en-US" dirty="0" smtClean="0"/>
              <a:t>Unsatisfied customers frequently have longer periods since their last purchase.</a:t>
            </a:r>
          </a:p>
          <a:p>
            <a:r>
              <a:rPr lang="en-US" b="1" dirty="0" smtClean="0"/>
              <a:t>Business Insight</a:t>
            </a:r>
          </a:p>
          <a:p>
            <a:r>
              <a:rPr lang="en-US" dirty="0" smtClean="0"/>
              <a:t>Purchase </a:t>
            </a:r>
            <a:r>
              <a:rPr lang="en-US" dirty="0" err="1" smtClean="0"/>
              <a:t>recency</a:t>
            </a:r>
            <a:r>
              <a:rPr lang="en-US" dirty="0" smtClean="0"/>
              <a:t> can be used as an </a:t>
            </a:r>
            <a:r>
              <a:rPr lang="en-US" b="1" dirty="0" smtClean="0"/>
              <a:t>early indicator for customer retention campaigns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Discount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Discount Applied</a:t>
            </a:r>
          </a:p>
          <a:p>
            <a:r>
              <a:rPr lang="en-US" dirty="0" smtClean="0"/>
              <a:t>The dataset records whether a discount was applied to each customer.</a:t>
            </a:r>
          </a:p>
          <a:p>
            <a:r>
              <a:rPr lang="en-US" b="1" dirty="0" smtClean="0"/>
              <a:t>Observations</a:t>
            </a:r>
          </a:p>
          <a:p>
            <a:r>
              <a:rPr lang="en-US" dirty="0" smtClean="0"/>
              <a:t>Discounts are frequently associated with Silver and Bronze customers in the dataset.</a:t>
            </a:r>
          </a:p>
          <a:p>
            <a:r>
              <a:rPr lang="en-US" dirty="0" smtClean="0"/>
              <a:t>Many discounted customers still show unsatisfied or neutral satisfaction levels.</a:t>
            </a:r>
          </a:p>
          <a:p>
            <a:r>
              <a:rPr lang="en-US" dirty="0" smtClean="0"/>
              <a:t>This indicates that discounts alone may not guarantee higher customer satisfaction.</a:t>
            </a:r>
          </a:p>
          <a:p>
            <a:r>
              <a:rPr lang="en-US" dirty="0" smtClean="0"/>
              <a:t>Customer experience and product/service quality should also be considered.</a:t>
            </a:r>
          </a:p>
          <a:p>
            <a:r>
              <a:rPr lang="en-US" b="1" dirty="0" smtClean="0"/>
              <a:t>Business Insight</a:t>
            </a:r>
          </a:p>
          <a:p>
            <a:r>
              <a:rPr lang="en-US" dirty="0" smtClean="0"/>
              <a:t>Discounts should be used strategically rather than relying on them as the primary method of customer retention.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Dashboard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828800"/>
            <a:ext cx="6744047" cy="128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3276600"/>
            <a:ext cx="7296150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 Findings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Gold members represent the highest-value customer group</a:t>
            </a:r>
            <a:r>
              <a:rPr lang="en-US" dirty="0" smtClean="0"/>
              <a:t> based on spending and purchase activity.</a:t>
            </a:r>
          </a:p>
          <a:p>
            <a:r>
              <a:rPr lang="en-US" b="1" dirty="0" smtClean="0"/>
              <a:t>San Francisco and New York show strong customer spending and engagement</a:t>
            </a:r>
            <a:r>
              <a:rPr lang="en-US" dirty="0" smtClean="0"/>
              <a:t> compared with several other cities.</a:t>
            </a:r>
          </a:p>
          <a:p>
            <a:r>
              <a:rPr lang="en-US" b="1" dirty="0" smtClean="0"/>
              <a:t>Customer satisfaction is strongly associated with higher ratings and spending</a:t>
            </a:r>
            <a:r>
              <a:rPr lang="en-US" dirty="0" smtClean="0"/>
              <a:t> in the dataset.</a:t>
            </a:r>
          </a:p>
          <a:p>
            <a:r>
              <a:rPr lang="en-US" b="1" dirty="0" smtClean="0"/>
              <a:t>Bronze customers show comparatively lower spending and ratings</a:t>
            </a:r>
            <a:r>
              <a:rPr lang="en-US" dirty="0" smtClean="0"/>
              <a:t>, indicating an opportunity for targeted engagement.</a:t>
            </a:r>
          </a:p>
          <a:p>
            <a:r>
              <a:rPr lang="en-US" b="1" dirty="0" smtClean="0"/>
              <a:t>Customers with longer purchase gaps require attention</a:t>
            </a:r>
            <a:r>
              <a:rPr lang="en-US" dirty="0" smtClean="0"/>
              <a:t>, as they may be at higher risk of becoming inactive.</a:t>
            </a:r>
          </a:p>
          <a:p>
            <a:r>
              <a:rPr lang="en-US" b="1" dirty="0" smtClean="0"/>
              <a:t>Discounts do not consistently translate into higher satisfaction</a:t>
            </a:r>
            <a:r>
              <a:rPr lang="en-US" dirty="0" smtClean="0"/>
              <a:t>, suggesting that customer experience is also important.</a:t>
            </a:r>
          </a:p>
          <a:p>
            <a:r>
              <a:rPr lang="en-US" b="1" dirty="0" smtClean="0"/>
              <a:t>Membership-based segmentation can help the business personalize marketing and retention strategies.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/>
              <a:t>1. Strengthen Gold Membership</a:t>
            </a:r>
            <a:endParaRPr lang="en-US" dirty="0" smtClean="0"/>
          </a:p>
          <a:p>
            <a:r>
              <a:rPr lang="en-US" dirty="0" smtClean="0"/>
              <a:t>Provide exclusive benefits to high-value customers.</a:t>
            </a:r>
          </a:p>
          <a:p>
            <a:r>
              <a:rPr lang="en-US" dirty="0" smtClean="0"/>
              <a:t>Introduce loyalty rewards and early-access offers.</a:t>
            </a:r>
          </a:p>
          <a:p>
            <a:pPr>
              <a:buNone/>
            </a:pPr>
            <a:r>
              <a:rPr lang="en-US" b="1" dirty="0" smtClean="0"/>
              <a:t>2. Improve Bronze Customer Engagement</a:t>
            </a:r>
            <a:endParaRPr lang="en-US" dirty="0" smtClean="0"/>
          </a:p>
          <a:p>
            <a:r>
              <a:rPr lang="en-US" dirty="0" smtClean="0"/>
              <a:t>Create personalized offers to encourage repeat purchases.</a:t>
            </a:r>
          </a:p>
          <a:p>
            <a:r>
              <a:rPr lang="en-US" dirty="0" smtClean="0"/>
              <a:t>Provide incentives for upgrading membership.</a:t>
            </a:r>
          </a:p>
          <a:p>
            <a:pPr>
              <a:buNone/>
            </a:pPr>
            <a:r>
              <a:rPr lang="en-US" b="1" dirty="0" smtClean="0"/>
              <a:t>3. Target At-Risk Customers</a:t>
            </a:r>
            <a:endParaRPr lang="en-US" dirty="0" smtClean="0"/>
          </a:p>
          <a:p>
            <a:r>
              <a:rPr lang="en-US" dirty="0" smtClean="0"/>
              <a:t>Identify customers with high Days Since Last Purchase.</a:t>
            </a:r>
          </a:p>
          <a:p>
            <a:r>
              <a:rPr lang="en-US" dirty="0" smtClean="0"/>
              <a:t>Send personalized reminders, offers or re-engagement campaigns.</a:t>
            </a:r>
          </a:p>
          <a:p>
            <a:pPr>
              <a:buNone/>
            </a:pPr>
            <a:r>
              <a:rPr lang="en-US" b="1" dirty="0" smtClean="0"/>
              <a:t>4. Improve Customer Experience</a:t>
            </a:r>
            <a:endParaRPr lang="en-US" dirty="0" smtClean="0"/>
          </a:p>
          <a:p>
            <a:r>
              <a:rPr lang="en-US" dirty="0" smtClean="0"/>
              <a:t>Investigate reasons behind low ratings and dissatisfaction.</a:t>
            </a:r>
          </a:p>
          <a:p>
            <a:r>
              <a:rPr lang="en-US" dirty="0" smtClean="0"/>
              <a:t>Focus on service quality and product experience, not only discounts.</a:t>
            </a:r>
          </a:p>
          <a:p>
            <a:pPr>
              <a:buNone/>
            </a:pPr>
            <a:r>
              <a:rPr lang="en-US" b="1" dirty="0" smtClean="0"/>
              <a:t>5. Use Location-Based Marketing</a:t>
            </a:r>
            <a:endParaRPr lang="en-US" dirty="0" smtClean="0"/>
          </a:p>
          <a:p>
            <a:r>
              <a:rPr lang="en-US" dirty="0" smtClean="0"/>
              <a:t>Develop different campaigns for different cities.</a:t>
            </a:r>
          </a:p>
          <a:p>
            <a:r>
              <a:rPr lang="en-US" dirty="0" smtClean="0"/>
              <a:t>Focus on cities with lower customer spending or engagement.</a:t>
            </a:r>
          </a:p>
          <a:p>
            <a:pPr>
              <a:buNone/>
            </a:pPr>
            <a:r>
              <a:rPr lang="en-US" b="1" dirty="0" smtClean="0"/>
              <a:t>6. Use Data-Driven Personalization</a:t>
            </a:r>
            <a:endParaRPr lang="en-US" dirty="0" smtClean="0"/>
          </a:p>
          <a:p>
            <a:r>
              <a:rPr lang="en-US" dirty="0" smtClean="0"/>
              <a:t>Recommend products based on previous purchasing behavior.</a:t>
            </a:r>
          </a:p>
          <a:p>
            <a:r>
              <a:rPr lang="en-US" dirty="0" smtClean="0"/>
              <a:t>Customize offers according to membership, spending and satisfaction.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analysis shows that </a:t>
            </a:r>
            <a:r>
              <a:rPr lang="en-US" b="1" dirty="0" smtClean="0"/>
              <a:t>membership type, location, purchase activity, satisfaction and </a:t>
            </a:r>
            <a:r>
              <a:rPr lang="en-US" b="1" dirty="0" err="1" smtClean="0"/>
              <a:t>recency</a:t>
            </a:r>
            <a:r>
              <a:rPr lang="en-US" dirty="0" smtClean="0"/>
              <a:t> are important factors in understanding customer behavior.</a:t>
            </a:r>
          </a:p>
          <a:p>
            <a:r>
              <a:rPr lang="en-US" dirty="0" smtClean="0"/>
              <a:t>The dashboard provides a clear view of customer value and engagement, helping the business identify:</a:t>
            </a:r>
          </a:p>
          <a:p>
            <a:r>
              <a:rPr lang="en-US" dirty="0" smtClean="0"/>
              <a:t>High-value customers</a:t>
            </a:r>
          </a:p>
          <a:p>
            <a:r>
              <a:rPr lang="en-US" dirty="0" smtClean="0"/>
              <a:t>At-risk customers</a:t>
            </a:r>
          </a:p>
          <a:p>
            <a:r>
              <a:rPr lang="en-US" dirty="0" smtClean="0"/>
              <a:t>Geographic opportunities</a:t>
            </a:r>
          </a:p>
          <a:p>
            <a:r>
              <a:rPr lang="en-US" dirty="0" smtClean="0"/>
              <a:t>Satisfaction issues</a:t>
            </a:r>
          </a:p>
          <a:p>
            <a:r>
              <a:rPr lang="en-US" dirty="0" smtClean="0"/>
              <a:t>Membership opportunities</a:t>
            </a:r>
          </a:p>
          <a:p>
            <a:r>
              <a:rPr lang="en-US" b="1" dirty="0" smtClean="0"/>
              <a:t>Overall objective:</a:t>
            </a:r>
            <a:r>
              <a:rPr lang="en-US" dirty="0" smtClean="0"/>
              <a:t> Use customer insights to improve </a:t>
            </a:r>
            <a:r>
              <a:rPr lang="en-US" b="1" dirty="0" smtClean="0"/>
              <a:t>retention, satisfaction and long-term revenue.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1051</Words>
  <Application>Microsoft Office PowerPoint</Application>
  <PresentationFormat>On-screen Show (4:3)</PresentationFormat>
  <Paragraphs>170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Customer Purchase &amp; Satisfaction Analysis</vt:lpstr>
      <vt:lpstr>Business Problem</vt:lpstr>
      <vt:lpstr>Business Goal</vt:lpstr>
      <vt:lpstr>Slide 4</vt:lpstr>
      <vt:lpstr>Data Analysis Process</vt:lpstr>
      <vt:lpstr>Slide 6</vt:lpstr>
      <vt:lpstr>Membership Analysis</vt:lpstr>
      <vt:lpstr>City-wise Analysis</vt:lpstr>
      <vt:lpstr>Customer Satisfaction Analysis</vt:lpstr>
      <vt:lpstr>Customer Engagement / Recency Analysis</vt:lpstr>
      <vt:lpstr>Discount Analysis</vt:lpstr>
      <vt:lpstr>Dashboard</vt:lpstr>
      <vt:lpstr>Key Findings</vt:lpstr>
      <vt:lpstr>Recommendations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Purchase &amp; Satisfaction Analysis</dc:title>
  <dc:creator>HP</dc:creator>
  <cp:lastModifiedBy>HP</cp:lastModifiedBy>
  <cp:revision>7</cp:revision>
  <dcterms:created xsi:type="dcterms:W3CDTF">2026-09-30T19:50:03Z</dcterms:created>
  <dcterms:modified xsi:type="dcterms:W3CDTF">2026-09-30T20:52:29Z</dcterms:modified>
</cp:coreProperties>
</file>